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686" y="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0972-FFB3-4954-8948-3FABC4970FD5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3CC4-E29F-4112-A86C-1FAACF19375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2348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0972-FFB3-4954-8948-3FABC4970FD5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3CC4-E29F-4112-A86C-1FAACF19375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8058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0972-FFB3-4954-8948-3FABC4970FD5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3CC4-E29F-4112-A86C-1FAACF19375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2585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0972-FFB3-4954-8948-3FABC4970FD5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3CC4-E29F-4112-A86C-1FAACF19375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3763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0972-FFB3-4954-8948-3FABC4970FD5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3CC4-E29F-4112-A86C-1FAACF19375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9253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0972-FFB3-4954-8948-3FABC4970FD5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3CC4-E29F-4112-A86C-1FAACF19375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7926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0972-FFB3-4954-8948-3FABC4970FD5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3CC4-E29F-4112-A86C-1FAACF19375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7060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0972-FFB3-4954-8948-3FABC4970FD5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3CC4-E29F-4112-A86C-1FAACF19375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9504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0972-FFB3-4954-8948-3FABC4970FD5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3CC4-E29F-4112-A86C-1FAACF19375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1317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0972-FFB3-4954-8948-3FABC4970FD5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3CC4-E29F-4112-A86C-1FAACF19375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421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80972-FFB3-4954-8948-3FABC4970FD5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13CC4-E29F-4112-A86C-1FAACF19375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8667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80972-FFB3-4954-8948-3FABC4970FD5}" type="datetimeFigureOut">
              <a:rPr lang="de-DE" smtClean="0"/>
              <a:t>19.03.2026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13CC4-E29F-4112-A86C-1FAACF19375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584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1" y="40444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Stammdatenblatt Justizvollzug NRW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4730263" y="773778"/>
            <a:ext cx="323057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3 kombinierbare Filter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Geschlecht: männlich &amp; weiblich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Offener &amp; geschlossener Vollzug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Erwachsenen- &amp; Jugendvollzug</a:t>
            </a:r>
          </a:p>
          <a:p>
            <a:endParaRPr lang="de-DE" dirty="0"/>
          </a:p>
        </p:txBody>
      </p:sp>
      <p:sp>
        <p:nvSpPr>
          <p:cNvPr id="9" name="Textfeld 8"/>
          <p:cNvSpPr txBox="1"/>
          <p:nvPr/>
        </p:nvSpPr>
        <p:spPr>
          <a:xfrm>
            <a:off x="8284557" y="3624079"/>
            <a:ext cx="3602642" cy="116955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Thema Personal</a:t>
            </a:r>
          </a:p>
          <a:p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Zugang FB Päd., IV B 5, IV B 2 &amp; IV A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Anzahl Stellen pädagogischer  Dienst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davon besetzt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Anzahl externe Kräfte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8284557" y="1729919"/>
            <a:ext cx="3602642" cy="1815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Thema Beschäftigungsquote </a:t>
            </a: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(Monats-, Quartals- &amp; Jahreswert)</a:t>
            </a:r>
          </a:p>
          <a:p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Zugang FB Päd., </a:t>
            </a:r>
            <a:r>
              <a:rPr lang="de-DE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JVAen</a:t>
            </a: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 A 1 </a:t>
            </a: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&amp; IV A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Beschäftigungsquote insgesamt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Wenn möglich: 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Beschäftigungsquote schulische Bildung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Wenn möglich: 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Beschäftigungsquote schulische Bildung mit Filterung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470564" y="1729919"/>
            <a:ext cx="7652129" cy="350865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Thema Angebot schulische Maßnahmen</a:t>
            </a: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(ggf. filterbar: Monats-, Quartals- &amp; Jahreswert)</a:t>
            </a:r>
          </a:p>
          <a:p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Zugang FB Päd., </a:t>
            </a:r>
            <a:r>
              <a:rPr lang="de-DE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JVAen</a:t>
            </a: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 A 1 &amp; </a:t>
            </a: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IV A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Kursart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mit Überkategorie (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Sprachliche Förderung, vorqualifizierende Maßnahme, schulabschlussbezogene Maßnahme, Studium, Maßnahmen in Bezug auf Ausbildung(</a:t>
            </a: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svorbereitung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))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Anzahl  Teilnehmende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Soll Plätze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Anzahl erreichte Schulabschlüsse bei schulabschlussbezogene Maßnahmen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Anzahl beendete Maßnahmen wegen Zielerreichung (bei nicht schulabschlussbezogenen Maßnahmen)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Ist zu definieren, wann Ziel erreicht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Anzahl abgerochene Maßnahmen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Ggf. unterscheiden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unverschuldet: Verlegung, Entlassung, Leistungsfähigkeit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verschuldet: </a:t>
            </a:r>
            <a:r>
              <a:rPr lang="de-DE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Diszi</a:t>
            </a: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, Verweigerung weitere Teilnahme, Lockerungsmissbrauch…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470563" y="5147750"/>
            <a:ext cx="7652129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Thema Auslastungsquote</a:t>
            </a: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(ggf. filterbar: Monats-, Quartals- &amp; Jahreswert)</a:t>
            </a:r>
            <a:endParaRPr lang="de-DE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Zugang FB Päd., </a:t>
            </a:r>
            <a:r>
              <a:rPr lang="de-DE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JVAen</a:t>
            </a: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 A 1 &amp; </a:t>
            </a: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IV A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Gesamtauslastungsquote sowie je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Kursart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(Elementarkurs-, Alphabetisierungskurs, Hochschulstudium….)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Angabe Vergleichswert (abhängig von Filter= Vormonat &amp; Wert Monat des Vorjahres…)</a:t>
            </a:r>
          </a:p>
        </p:txBody>
      </p:sp>
    </p:spTree>
    <p:extLst>
      <p:ext uri="{BB962C8B-B14F-4D97-AF65-F5344CB8AC3E}">
        <p14:creationId xmlns:p14="http://schemas.microsoft.com/office/powerpoint/2010/main" val="55975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1" y="40444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Stammdatenblatt je JVA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4730263" y="773778"/>
            <a:ext cx="323057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3 kombinierbare Filter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Geschlecht: männlich &amp; weiblich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Offener &amp; geschlossener Vollzug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Erwachsenen- &amp; Jugendvollzug</a:t>
            </a:r>
          </a:p>
          <a:p>
            <a:endParaRPr lang="de-DE" dirty="0"/>
          </a:p>
        </p:txBody>
      </p:sp>
      <p:sp>
        <p:nvSpPr>
          <p:cNvPr id="9" name="Textfeld 8"/>
          <p:cNvSpPr txBox="1"/>
          <p:nvPr/>
        </p:nvSpPr>
        <p:spPr>
          <a:xfrm>
            <a:off x="7653528" y="3843179"/>
            <a:ext cx="4364735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Thema Personal</a:t>
            </a:r>
          </a:p>
          <a:p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Zugang FB Päd., IV B 5, IV B 2 betroffene JVA &amp; IV A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Anzahl Stellen pädagogischer  Dienst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davon besetzt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Anzahl externe Kräfte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7653528" y="1729919"/>
            <a:ext cx="4364735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Thema Beschäftigungsquote </a:t>
            </a: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(Monats-, Quartals- &amp; Jahreswert)</a:t>
            </a:r>
          </a:p>
          <a:p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Zugang FB Päd., betroffene JVA,</a:t>
            </a:r>
            <a:r>
              <a:rPr lang="de-DE" sz="1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IV A 1</a:t>
            </a: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 &amp; IV A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Beschäftigungsquote insgesamt sowie Vergleichswert ganzes Land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Wenn möglich: 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Beschäftigungsquote schulische Bildung JVA &amp; ganzes Land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Wenn möglich: 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Beschäftigungsquote schulische Bildung JVA &amp; ganzes Land mit Filterung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173737" y="1729919"/>
            <a:ext cx="7333488" cy="35394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Thema Angebot schulische Maßnahmen</a:t>
            </a: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(ggf. filterbar: Monats-, Quartals- &amp; Jahreswert)</a:t>
            </a:r>
          </a:p>
          <a:p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Zugang FB Päd., betroffene JVA , </a:t>
            </a:r>
            <a:r>
              <a:rPr lang="de-DE" sz="1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 A 1 &amp; </a:t>
            </a: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IV A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Kursart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mit Überkategorie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(Sprachliche Förderung, vorqualifizierende Maßnahme, schulabschlussbezogene Maßnahme, Studium, Maßnahmen in Bezug auf Ausbildung(</a:t>
            </a: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svorbereitung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))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Anzahl  Teilnehmende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Soll Plätze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Anzahl erreichte Schulabschlüsse bei schulabschlussbezogene Maßnahmen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Anzahl beendete Maßnahmen wegen Zielerreichung (bei nicht schulabschlussbezogenen Maßnahmen)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Ist zu definieren, wann Ziel erreicht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Anzahl abgerochene Maßnahmen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Ggf. unterscheiden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unverschuldet: Verlegung, Entlassung, Leistungsfähigkeit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Verschuldet: </a:t>
            </a:r>
            <a:r>
              <a:rPr lang="de-DE" sz="1400" i="1" dirty="0" err="1">
                <a:latin typeface="Arial" panose="020B0604020202020204" pitchFamily="34" charset="0"/>
                <a:cs typeface="Arial" panose="020B0604020202020204" pitchFamily="34" charset="0"/>
              </a:rPr>
              <a:t>Diszi</a:t>
            </a: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, Verweigerung weitere Teilnahme, Lockerungsmissbrauch…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173736" y="5147750"/>
            <a:ext cx="7333488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Thema Auslastungsquote</a:t>
            </a: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(ggf. filterbar: Monats-, Quartals- &amp; Jahreswert)</a:t>
            </a:r>
            <a:endParaRPr lang="de-DE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Zugang FB Päd., betroffene JVA , </a:t>
            </a:r>
            <a:r>
              <a:rPr lang="de-DE" sz="1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 A 1 &amp; </a:t>
            </a: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IV A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Gesamtauslastungsquote sowie je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Kursart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(Elementarkurs-, Alphabetisierungskurs, Hochschulstudium….)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Angabe Vergleichswert (abhängig von Filter= Vormonat &amp; Wert Monat des Vorjahres…)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7653529" y="5333206"/>
            <a:ext cx="4364734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Thema </a:t>
            </a:r>
            <a:r>
              <a:rPr lang="de-DE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elis</a:t>
            </a:r>
            <a:endParaRPr lang="de-DE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Zugang FB Päd., betroffene JVA &amp; IV A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Anzahl Lernplätze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Anzahl Mandantschaften</a:t>
            </a:r>
          </a:p>
        </p:txBody>
      </p:sp>
    </p:spTree>
    <p:extLst>
      <p:ext uri="{BB962C8B-B14F-4D97-AF65-F5344CB8AC3E}">
        <p14:creationId xmlns:p14="http://schemas.microsoft.com/office/powerpoint/2010/main" val="3973321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1" y="40444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Weitere Auswertungen &amp; Abfragen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6163057" y="1776073"/>
            <a:ext cx="5691906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Thema Personal</a:t>
            </a:r>
          </a:p>
          <a:p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Zugang FB Päd., IV B 5, IV B 2 betroffene JVA &amp; IV A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Tabelle alle Anstalten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Anzahl Stellen pädagogischer  Dienst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davon besetzt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Anzahl externe Personen (welche Kurse?)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6163057" y="896926"/>
            <a:ext cx="5691906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Thema Beschäftigungsquote </a:t>
            </a:r>
          </a:p>
          <a:p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Zugang FB Päd., </a:t>
            </a:r>
            <a:r>
              <a:rPr lang="de-DE" sz="1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 A 1 &amp; </a:t>
            </a: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IV A 4</a:t>
            </a:r>
            <a:endParaRPr lang="de-DE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&gt; Siehe Auslastungsquote)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470563" y="905663"/>
            <a:ext cx="5182892" cy="116955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Thema Angebot schulische Maßnahmen</a:t>
            </a:r>
          </a:p>
          <a:p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Zugang FB Päd., </a:t>
            </a:r>
            <a:r>
              <a:rPr lang="de-DE" sz="1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 A 1 &amp; </a:t>
            </a: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IV A 4</a:t>
            </a:r>
            <a:endParaRPr lang="de-DE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Tabelle alle Anstalten&gt; Monats-, Quartals- &amp; Jahreswert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Grafische Auswertung der zeitlichen Entwicklung (1 Jahr, letzte 4 Quartale &amp; 10 Jahre) &gt; Gesamtwerte &amp; Kurse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470561" y="2207099"/>
            <a:ext cx="5182894" cy="116955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Thema Auslastungsquote</a:t>
            </a: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Zugang FB Päd., </a:t>
            </a:r>
            <a:r>
              <a:rPr lang="de-DE" sz="14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 A 1 &amp; </a:t>
            </a:r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IV A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Tabelle alle Anstalten&gt; Monats-, Quartals- &amp; Jahreswert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Grafische Auswertung der zeitlichen Entwicklung (1 Jahr, letzte 4 Quartale &amp; 10 Jahre) &gt; Gesamtwerte &amp; Kurse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470560" y="3508535"/>
            <a:ext cx="5182895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Thema </a:t>
            </a:r>
            <a:r>
              <a:rPr lang="de-DE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elis</a:t>
            </a:r>
            <a:endParaRPr lang="de-DE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Zugang FB Päd. &amp; IV A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Tabelle alle Anstalten mit Anzahl Lernplätzen &amp; Mandantschaften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470560" y="4576934"/>
            <a:ext cx="5182895" cy="18158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Thema Haushaltsanmeldung</a:t>
            </a:r>
          </a:p>
          <a:p>
            <a:r>
              <a:rPr lang="de-DE" sz="1400" i="1" dirty="0">
                <a:latin typeface="Arial" panose="020B0604020202020204" pitchFamily="34" charset="0"/>
                <a:cs typeface="Arial" panose="020B0604020202020204" pitchFamily="34" charset="0"/>
              </a:rPr>
              <a:t>Zugang FB Päd., IV B 5 und IV A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Anmeldung seitens der JVA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Automatisierte Fristsetzung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Prüfung durch FB Pädagogik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Hierfür Daten des letzten Jahres ergänzend sowie Hinweis was gestrichen worden 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Übermittlung an IV B 5</a:t>
            </a:r>
          </a:p>
        </p:txBody>
      </p:sp>
      <p:sp>
        <p:nvSpPr>
          <p:cNvPr id="15" name="Textfeld 14"/>
          <p:cNvSpPr txBox="1"/>
          <p:nvPr/>
        </p:nvSpPr>
        <p:spPr>
          <a:xfrm>
            <a:off x="6163057" y="3301551"/>
            <a:ext cx="5691906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Thema Anmeldung/ Änderung Kurse &amp; Bildungsborschüre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Jährlich von JVA zu erstellen, von FB Päd. freizugeben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Die Mindest-Soll Plätze aus der Konzeptionierung für die erwachsenen Inhaftierten sind als Mindestwerte einzuhalten (geringere Daten können nicht eingetragen werden).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Es sollte einheitliche Grundbezeichnungen der Kurse verwendet werden.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Grundlagen für Soll Plätze &amp; Bildungsbroschüre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automatische Erstellung Bildungsborschüre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C834E8D-225F-D775-ED1A-1940603D869D}"/>
              </a:ext>
            </a:extLst>
          </p:cNvPr>
          <p:cNvSpPr txBox="1"/>
          <p:nvPr/>
        </p:nvSpPr>
        <p:spPr>
          <a:xfrm>
            <a:off x="6163057" y="5455186"/>
            <a:ext cx="5691905" cy="7386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Thema Informationsaustausch und Fachabfragen FB Pädagogik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Daten aus NRW CONNECT integrieren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Daten aus JAK ELIAS Plattform integrieren</a:t>
            </a:r>
          </a:p>
        </p:txBody>
      </p:sp>
    </p:spTree>
    <p:extLst>
      <p:ext uri="{BB962C8B-B14F-4D97-AF65-F5344CB8AC3E}">
        <p14:creationId xmlns:p14="http://schemas.microsoft.com/office/powerpoint/2010/main" val="3247998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1" y="40444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Klärungsbedarf &amp; Ideen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470563" y="888070"/>
            <a:ext cx="10695668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Fast alle Daten (Ausnahme Anmeldung/Änderung Kurs, Haushaltsanmeldung, Stellen und Stellenbesetzung sowie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elis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) sollten automatisiert aus BASIS-Web kommen. Dafür wären jedoch ergänzende Programmierungen in BASIS-web erforderlich.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U. a. Ablöse- bzw. Beendigungsgrund, Grundbezeichnung Kurs &amp; Soll-Plätze festgelegt (siehe 2. Spiegelstrich)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Bei der Anmeldung/ Änderung Kurs wäre es wünschenswert, wenn auf der Plattform die Zustimmung bzw. Freigabe durch den Fachbereich Pädagogik erfolgt und hieraus automatisch in BASIS-Web die Soll-Plätze und die „Grundbezeichnung des Kurses“ festgelegt werden, die für die Anstalt nicht änderbar sind.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Die Daten und deren Abfrage müssten mit IV B 2 und IV B 5 abgestimmt werden.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Die Frage, ob auch das Controlling Zugriff zu den Daten haben möchte, bei denen das Referat IV A 1 </a:t>
            </a:r>
            <a:r>
              <a:rPr lang="de-DE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rot markiert 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sind, müsste geklärt werden.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4554F98-2BFA-37A6-618D-DF43587F854D}"/>
              </a:ext>
            </a:extLst>
          </p:cNvPr>
          <p:cNvSpPr txBox="1"/>
          <p:nvPr/>
        </p:nvSpPr>
        <p:spPr>
          <a:xfrm>
            <a:off x="470563" y="3155020"/>
            <a:ext cx="10695668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Wünschenswert wäre eine Übersicht von tagesaktuellen freien Plätzen der verschiedenen Kurse in den Anstalten (getrennt nach Geschlecht, offener &amp; geschlossener Vollzug sowie Erwachsenen- &amp; Jugendvollzug damit zielgerichtet angefragt werden kann.</a:t>
            </a:r>
          </a:p>
        </p:txBody>
      </p:sp>
    </p:spTree>
    <p:extLst>
      <p:ext uri="{BB962C8B-B14F-4D97-AF65-F5344CB8AC3E}">
        <p14:creationId xmlns:p14="http://schemas.microsoft.com/office/powerpoint/2010/main" val="4188826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340095"/>
              </p:ext>
            </p:extLst>
          </p:nvPr>
        </p:nvGraphicFramePr>
        <p:xfrm>
          <a:off x="2051986" y="1115802"/>
          <a:ext cx="7821072" cy="509432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789549">
                  <a:extLst>
                    <a:ext uri="{9D8B030D-6E8A-4147-A177-3AD203B41FA5}">
                      <a16:colId xmlns:a16="http://schemas.microsoft.com/office/drawing/2014/main" val="3563077321"/>
                    </a:ext>
                  </a:extLst>
                </a:gridCol>
                <a:gridCol w="3495965">
                  <a:extLst>
                    <a:ext uri="{9D8B030D-6E8A-4147-A177-3AD203B41FA5}">
                      <a16:colId xmlns:a16="http://schemas.microsoft.com/office/drawing/2014/main" val="3976660101"/>
                    </a:ext>
                  </a:extLst>
                </a:gridCol>
                <a:gridCol w="898360">
                  <a:extLst>
                    <a:ext uri="{9D8B030D-6E8A-4147-A177-3AD203B41FA5}">
                      <a16:colId xmlns:a16="http://schemas.microsoft.com/office/drawing/2014/main" val="559017637"/>
                    </a:ext>
                  </a:extLst>
                </a:gridCol>
                <a:gridCol w="1637198">
                  <a:extLst>
                    <a:ext uri="{9D8B030D-6E8A-4147-A177-3AD203B41FA5}">
                      <a16:colId xmlns:a16="http://schemas.microsoft.com/office/drawing/2014/main" val="1426639936"/>
                    </a:ext>
                  </a:extLst>
                </a:gridCol>
              </a:tblGrid>
              <a:tr h="299198">
                <a:tc rowSpan="2"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Kategorie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Grundbezeichnung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de-DE" sz="1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Erwachsene</a:t>
                      </a:r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85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D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Mindest-Soll Plätze</a:t>
                      </a:r>
                      <a:r>
                        <a:rPr lang="de-DE" sz="1000" b="1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de-DE" sz="1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Dauer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422478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Sprachliche Förderung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u="none" strike="noStrike" kern="1200" dirty="0">
                          <a:solidFill>
                            <a:schemeClr val="dk1"/>
                          </a:solidFill>
                          <a:effectLst>
                            <a:glow>
                              <a:srgbClr val="000000"/>
                            </a:glow>
                            <a:outerShdw sx="0" sy="0">
                              <a:srgbClr val="000000"/>
                            </a:outerShdw>
                            <a:reflection stA="0" endPos="0" fadeDir="0" sx="0" sy="0"/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Crashkurs - Sprachliche Erstversorgung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Monate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320204"/>
                  </a:ext>
                </a:extLst>
              </a:tr>
              <a:tr h="218377">
                <a:tc vMerge="1">
                  <a:txBody>
                    <a:bodyPr/>
                    <a:lstStyle/>
                    <a:p>
                      <a:endParaRPr lang="de-D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u="none" strike="noStrike" kern="1200" dirty="0">
                          <a:solidFill>
                            <a:schemeClr val="dk1"/>
                          </a:solidFill>
                          <a:effectLst>
                            <a:glow>
                              <a:srgbClr val="000000"/>
                            </a:glow>
                            <a:outerShdw sx="0" sy="0">
                              <a:srgbClr val="000000"/>
                            </a:outerShdw>
                            <a:reflection stA="0" endPos="0" fadeDir="0" sx="0" sy="0"/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Alphabetisierungskurs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Monate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253005"/>
                  </a:ext>
                </a:extLst>
              </a:tr>
              <a:tr h="124006">
                <a:tc vMerge="1">
                  <a:txBody>
                    <a:bodyPr/>
                    <a:lstStyle/>
                    <a:p>
                      <a:endParaRPr lang="de-D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u="none" strike="noStrike" kern="1200" dirty="0">
                          <a:solidFill>
                            <a:schemeClr val="dk1"/>
                          </a:solidFill>
                          <a:effectLst>
                            <a:glow>
                              <a:srgbClr val="000000"/>
                            </a:glow>
                            <a:outerShdw sx="0" sy="0">
                              <a:srgbClr val="000000"/>
                            </a:outerShdw>
                            <a:reflection stA="0" endPos="0" fadeDir="0" sx="0" sy="0"/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Integrationskurs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Monate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509943"/>
                  </a:ext>
                </a:extLst>
              </a:tr>
              <a:tr h="190828">
                <a:tc rowSpan="3"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Vorqualifizierende </a:t>
                      </a:r>
                    </a:p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Maßnahmen</a:t>
                      </a:r>
                    </a:p>
                    <a:p>
                      <a:pPr algn="ctr"/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u="none" strike="noStrike" kern="1200" dirty="0">
                          <a:solidFill>
                            <a:schemeClr val="dk1"/>
                          </a:solidFill>
                          <a:effectLst>
                            <a:glow>
                              <a:srgbClr val="000000"/>
                            </a:glow>
                            <a:outerShdw sx="0" sy="0">
                              <a:srgbClr val="000000"/>
                            </a:outerShdw>
                            <a:reflection stA="0" endPos="0" fadeDir="0" sx="0" sy="0"/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Elementarkurs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Monate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026893"/>
                  </a:ext>
                </a:extLst>
              </a:tr>
              <a:tr h="234203">
                <a:tc vMerge="1">
                  <a:txBody>
                    <a:bodyPr/>
                    <a:lstStyle/>
                    <a:p>
                      <a:endParaRPr lang="de-D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u="none" strike="noStrike" kern="1200" dirty="0">
                          <a:solidFill>
                            <a:schemeClr val="dk1"/>
                          </a:solidFill>
                          <a:effectLst>
                            <a:glow>
                              <a:srgbClr val="000000"/>
                            </a:glow>
                            <a:outerShdw sx="0" sy="0">
                              <a:srgbClr val="000000"/>
                            </a:outerShdw>
                            <a:reflection stA="0" endPos="0" fadeDir="0" sx="0" sy="0"/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Förderkurs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Monate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601110"/>
                  </a:ext>
                </a:extLst>
              </a:tr>
              <a:tr h="200987">
                <a:tc vMerge="1">
                  <a:txBody>
                    <a:bodyPr/>
                    <a:lstStyle/>
                    <a:p>
                      <a:endParaRPr lang="de-DE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u="none" strike="noStrike" kern="1200" dirty="0">
                          <a:solidFill>
                            <a:schemeClr val="dk1"/>
                          </a:solidFill>
                          <a:effectLst>
                            <a:glow>
                              <a:srgbClr val="000000"/>
                            </a:glow>
                            <a:outerShdw sx="0" sy="0">
                              <a:srgbClr val="000000"/>
                            </a:outerShdw>
                            <a:reflection stA="0" endPos="0" fadeDir="0" sx="0" sy="0"/>
                          </a:effectLs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Liftkurs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Monate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489131"/>
                  </a:ext>
                </a:extLst>
              </a:tr>
              <a:tr h="244231">
                <a:tc rowSpan="3"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Schulabschlussbezogene Maßnahmen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Hauptschulabschluss Klasse 9/10A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275971"/>
                  </a:ext>
                </a:extLst>
              </a:tr>
              <a:tr h="244231">
                <a:tc vMerge="1">
                  <a:txBody>
                    <a:bodyPr/>
                    <a:lstStyle/>
                    <a:p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Realschulabschluss</a:t>
                      </a:r>
                      <a:r>
                        <a:rPr lang="de-DE" sz="1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– Fachoberschulreife</a:t>
                      </a:r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211295"/>
                  </a:ext>
                </a:extLst>
              </a:tr>
              <a:tr h="244231">
                <a:tc vMerge="1">
                  <a:txBody>
                    <a:bodyPr/>
                    <a:lstStyle/>
                    <a:p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Hochschulreife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187304"/>
                  </a:ext>
                </a:extLst>
              </a:tr>
              <a:tr h="244231">
                <a:tc rowSpan="4">
                  <a:txBody>
                    <a:bodyPr/>
                    <a:lstStyle/>
                    <a:p>
                      <a:pPr algn="ctr"/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Studium</a:t>
                      </a:r>
                    </a:p>
                    <a:p>
                      <a:pPr algn="ctr"/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Fachhochschulstudium</a:t>
                      </a:r>
                      <a:r>
                        <a:rPr lang="de-DE" sz="1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54352"/>
                  </a:ext>
                </a:extLst>
              </a:tr>
              <a:tr h="204762">
                <a:tc vMerge="1">
                  <a:txBody>
                    <a:bodyPr/>
                    <a:lstStyle/>
                    <a:p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Hochschulstudium</a:t>
                      </a:r>
                      <a:r>
                        <a:rPr lang="de-DE" sz="1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FU Hagen Vollzeit- oder Teilzeitstudium</a:t>
                      </a:r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289533"/>
                  </a:ext>
                </a:extLst>
              </a:tr>
              <a:tr h="233874">
                <a:tc vMerge="1">
                  <a:txBody>
                    <a:bodyPr/>
                    <a:lstStyle/>
                    <a:p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Hochschulstudium</a:t>
                      </a:r>
                      <a:r>
                        <a:rPr lang="de-DE" sz="1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FU Hagen Kursstudium</a:t>
                      </a:r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852754"/>
                  </a:ext>
                </a:extLst>
              </a:tr>
              <a:tr h="201050">
                <a:tc vMerge="1">
                  <a:txBody>
                    <a:bodyPr/>
                    <a:lstStyle/>
                    <a:p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Studium an anderer</a:t>
                      </a:r>
                      <a:r>
                        <a:rPr lang="de-DE" sz="1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Hochschule als FU Hagen</a:t>
                      </a:r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566090"/>
                  </a:ext>
                </a:extLst>
              </a:tr>
              <a:tr h="238564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Ausbildung(</a:t>
                      </a:r>
                      <a:r>
                        <a:rPr lang="de-DE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svorbereitung</a:t>
                      </a:r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Ausbildungsvorbereitungsjahr (AVJ)-HS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993449"/>
                  </a:ext>
                </a:extLst>
              </a:tr>
              <a:tr h="238564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Sonderform des Ausbildungsvorbereitungsjahrs (S-AVJ)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36001"/>
                  </a:ext>
                </a:extLst>
              </a:tr>
              <a:tr h="232116">
                <a:tc vMerge="1">
                  <a:txBody>
                    <a:bodyPr/>
                    <a:lstStyle/>
                    <a:p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Berufsfachschule BS 1 – HS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074712"/>
                  </a:ext>
                </a:extLst>
              </a:tr>
              <a:tr h="252045">
                <a:tc vMerge="1">
                  <a:txBody>
                    <a:bodyPr/>
                    <a:lstStyle/>
                    <a:p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Berufsfachschule BS 1 – FOR &amp; Q-Vermerk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35112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1.-3.</a:t>
                      </a:r>
                      <a:r>
                        <a:rPr lang="de-DE" sz="1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Berufsschuljahr</a:t>
                      </a:r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148014"/>
                  </a:ext>
                </a:extLst>
              </a:tr>
            </a:tbl>
          </a:graphicData>
        </a:graphic>
      </p:graphicFrame>
      <p:sp>
        <p:nvSpPr>
          <p:cNvPr id="5" name="Textfeld 4"/>
          <p:cNvSpPr txBox="1"/>
          <p:nvPr/>
        </p:nvSpPr>
        <p:spPr>
          <a:xfrm>
            <a:off x="1" y="40444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ACHTUNG! DIE DATEN ZU DEN ERWACHSENEN STAMMEN  </a:t>
            </a:r>
          </a:p>
          <a:p>
            <a:pPr lvl="0" algn="ctr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AUS DER NOCH NICHT IN KRAFT GESETZTEN KONZEPTION</a:t>
            </a:r>
          </a:p>
        </p:txBody>
      </p:sp>
    </p:spTree>
    <p:extLst>
      <p:ext uri="{BB962C8B-B14F-4D97-AF65-F5344CB8AC3E}">
        <p14:creationId xmlns:p14="http://schemas.microsoft.com/office/powerpoint/2010/main" val="4106211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1080</Words>
  <Application>Microsoft Office PowerPoint</Application>
  <PresentationFormat>Breitbild</PresentationFormat>
  <Paragraphs>159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Justiz Land NRW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Leger, Nicole</dc:creator>
  <cp:lastModifiedBy>Leger, Nicole</cp:lastModifiedBy>
  <cp:revision>23</cp:revision>
  <dcterms:created xsi:type="dcterms:W3CDTF">2026-03-16T08:11:38Z</dcterms:created>
  <dcterms:modified xsi:type="dcterms:W3CDTF">2026-03-19T09:50:29Z</dcterms:modified>
</cp:coreProperties>
</file>